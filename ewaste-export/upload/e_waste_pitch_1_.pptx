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5.xml"/><Relationship Id="rId17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4.xml"/><Relationship Id="rId5" Type="http://schemas.openxmlformats.org/officeDocument/2006/relationships/theme" Target="theme/theme1.xml"/><Relationship Id="rId15" Type="http://schemas.openxmlformats.org/officeDocument/2006/relationships/customXml" Target="../customXml/item1.xml"/><Relationship Id="rId10" Type="http://schemas.openxmlformats.org/officeDocument/2006/relationships/slide" Target="slides/slide3.xml"/><Relationship Id="rId4" Type="http://schemas.openxmlformats.org/officeDocument/2006/relationships/viewProps" Target="viewProps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judges and professors. Today we are pitching our innovative startup business model: an AI-Powered E-Waste Collection &amp; Recycling Platform. In India, e-waste is growing exponentially, with our research showing India is now the world's 3rd largest e-waste generator. We are here to show how technology can turn a severe environmental hazard into massive economic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highlights the severe core problem we are tackling. India's massive urbanization has caused e-waste to rise 100% in a decade, hitting 3.8 MMT in 2024. Households generate 70% of this, but have no convenient disposal mechanisms. The current linear pathway is shown on the right: devices go to informal scrap dealers who burn cables, releasing lead/mercury into the groundwater, and losing ₹50,000 Crore worth of precious metals like gold and lithium.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 replaces the broken linear path with a tech-driven circular ecosystem. The core innovation is our AI scanner, achieving 96% accuracy (backed by PMC peer-reviewed research), allowing users to scan their electronics instantly. On the right, you can see the end-to-end circular journey from user scan, logistics pickup, to smart bulk sorting and high-purity metal extraction. Crucially, we issue Digital Waste Passports to ensure transparency and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E-waste requires a highly synchronized supply-and-demand market network. Rather than just targeting consumers, our platform connects 6 crucial segments. Households (70% supply) get convenience; schools and corporations get bulk logistics and secure data wiping; retailers get EPR support; and authorized recyclers get a steady, clean supply of pre-sorted materials which they desperately need to run their expensive metallurgy plants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make money? Unlike basic junk dealers, we have six diversified streams. The highest margin streams are Refurbished Device Sales (₹2-4 Lakh) and Corporate ESG Contracts (₹2-5 Lakh). As shown in the visual bar chart on the right, our total monthly revenue potential lies between ₹6.5 Lakh and ₹16.5 Lakh once we establish regional hubs, presenting a highly attractive return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the financing side. To bring this platform to market, we require a seed round of ₹15 to ₹27 Lakh. As detailed in the allocation table, this is tightly managed: only ₹3-5 Lakh on facilities leasing, keeping us asset-light. The majority is spent on App/AI modeling and initial marketing to drive household volume. With a monthly income potential of up to ₹16.5 Lakh, we project a rapid payback period of 4 to 6 months, making this model highly capital 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our platform delivers an incredibly powerful double bottom line: measurable ecological impact and massive business value. We recover critical minerals, supporting tech circularity in India. Business-wise, we establish high-margin recurring income. We are truly turning electronic waste into economic value. Thank you, and we are open for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8FAFC"/>
                </a:solidFill>
                <a:latin typeface="Georgia"/>
              </a:rPr>
              <a:t>AI-Powered E-Waste
Collection &amp; Recycling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1">
                <a:solidFill>
                  <a:srgbClr val="22C55E"/>
                </a:solidFill>
                <a:latin typeface="Verdana"/>
              </a:rPr>
              <a:t>Turning Electronic Waste into Sustainable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114800"/>
            <a:ext cx="45720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8FAFC"/>
                </a:solidFill>
                <a:latin typeface="Verdana"/>
              </a:rPr>
              <a:t>Presented by: Team Eco-Loop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Verdana"/>
              </a:rPr>
              <a:t>College of Business &amp; Technology | Business Innovation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645920"/>
            <a:ext cx="1384300" cy="156718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2011680"/>
            <a:ext cx="1384300" cy="120142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3200400"/>
            <a:ext cx="12700" cy="156718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0" y="2377440"/>
            <a:ext cx="1645920" cy="164592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Georgia"/>
              </a:rPr>
              <a:t>Core AI
Engine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1005840"/>
            <a:ext cx="1280160" cy="1280160"/>
          </a:xfrm>
          <a:prstGeom prst="ellipse">
            <a:avLst/>
          </a:prstGeom>
          <a:solidFill>
            <a:srgbClr val="1C254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Verdana"/>
              </a:rPr>
              <a:t>Consumer
App</a:t>
            </a:r>
          </a:p>
        </p:txBody>
      </p:sp>
      <p:sp>
        <p:nvSpPr>
          <p:cNvPr id="10" name="Oval 9"/>
          <p:cNvSpPr/>
          <p:nvPr/>
        </p:nvSpPr>
        <p:spPr>
          <a:xfrm>
            <a:off x="9875520" y="1371600"/>
            <a:ext cx="1280160" cy="1280160"/>
          </a:xfrm>
          <a:prstGeom prst="ellipse">
            <a:avLst/>
          </a:prstGeom>
          <a:solidFill>
            <a:srgbClr val="1C254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Verdana"/>
              </a:rPr>
              <a:t>Logistics
Pickup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4114800"/>
            <a:ext cx="1280160" cy="1280160"/>
          </a:xfrm>
          <a:prstGeom prst="ellipse">
            <a:avLst/>
          </a:prstGeom>
          <a:solidFill>
            <a:srgbClr val="1C254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Verdana"/>
              </a:rPr>
              <a:t>Recycler
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8FAFC"/>
                </a:solidFill>
                <a:latin typeface="Georgia"/>
              </a:rPr>
              <a:t>India's E-Waste Surges 100% to 3.8 MMT Outpacing Safe Disposal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200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06B6D4"/>
                </a:solidFill>
                <a:latin typeface="Verdana"/>
              </a:rPr>
              <a:t>Unconvenient household disposal channels drive environmental hazards and massive resource depletion.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31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303520" cy="219456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C55E"/>
                </a:solidFill>
                <a:latin typeface="Georgia"/>
              </a:rPr>
              <a:t>TECH OBSOLESCENCE &amp; ACCESS BARRIERS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8FAFC"/>
                </a:solidFill>
                <a:latin typeface="Verdana"/>
              </a:rPr>
              <a:t>• Rapid Upgrade Cycles: </a:t>
            </a:r>
            <a:r>
              <a:rPr sz="1150" b="0" i="0">
                <a:solidFill>
                  <a:srgbClr val="F8FAFC"/>
                </a:solidFill>
                <a:latin typeface="Verdana"/>
              </a:rPr>
              <a:t>Shortened lifespans of phones, laptops, and chargers lead to massive tech piles in homes.
</a:t>
            </a:r>
            <a:r>
              <a:rPr sz="1150" b="0" i="0">
                <a:solidFill>
                  <a:srgbClr val="F8FAFC"/>
                </a:solidFill>
                <a:latin typeface="Verdana"/>
              </a:rPr>
              <a:t>• Convenience Deficit: </a:t>
            </a:r>
            <a:r>
              <a:rPr sz="1150" b="0" i="0">
                <a:solidFill>
                  <a:srgbClr val="F8FAFC"/>
                </a:solidFill>
                <a:latin typeface="Verdana"/>
              </a:rPr>
              <a:t>Households represent 70% of total e-waste generated, yet they completely lack organized and reliable doorstep collection methods.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23360"/>
            <a:ext cx="5303520" cy="219456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C55E"/>
                </a:solidFill>
                <a:latin typeface="Georgia"/>
              </a:rPr>
              <a:t>TOXIC POLLUTION &amp; RESOURCE LOSS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8FAFC"/>
                </a:solidFill>
                <a:latin typeface="Verdana"/>
              </a:rPr>
              <a:t>• Severe Health Risks: </a:t>
            </a:r>
            <a:r>
              <a:rPr sz="1150" b="0" i="0">
                <a:solidFill>
                  <a:srgbClr val="F8FAFC"/>
                </a:solidFill>
                <a:latin typeface="Verdana"/>
              </a:rPr>
              <a:t>Improper disposal leaks toxic heavy metals like lead, mercury, and cadmium into soil and water tables.
</a:t>
            </a:r>
            <a:r>
              <a:rPr sz="1150" b="0" i="0">
                <a:solidFill>
                  <a:srgbClr val="F8FAFC"/>
                </a:solidFill>
                <a:latin typeface="Verdana"/>
              </a:rPr>
              <a:t>• Destroyed Wealth: </a:t>
            </a:r>
            <a:r>
              <a:rPr sz="1150" b="0" i="0">
                <a:solidFill>
                  <a:srgbClr val="F8FAFC"/>
                </a:solidFill>
                <a:latin typeface="Verdana"/>
              </a:rPr>
              <a:t>Over $6 Billion (approx. ₹50,000 Crore) in precious earth materials—including gold, silver, copper, and lithium—are lost annually due to non-segregated dumping.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6B6D4"/>
                </a:solidFill>
                <a:latin typeface="Georgia"/>
              </a:rPr>
              <a:t>Linear Material Degradation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286000"/>
            <a:ext cx="4572000" cy="86868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2C55E"/>
                </a:solidFill>
                <a:latin typeface="Verdana"/>
              </a:rPr>
              <a:t>OLD ELECTRONICS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8FAFC"/>
                </a:solidFill>
                <a:latin typeface="Verdana"/>
              </a:rPr>
              <a:t>Discarded devices, chargers, and batteries pile up.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32520" y="3154680"/>
            <a:ext cx="365760" cy="4114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29400" y="3566160"/>
            <a:ext cx="4572000" cy="868680"/>
          </a:xfrm>
          <a:prstGeom prst="round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2C55E"/>
                </a:solidFill>
                <a:latin typeface="Verdana"/>
              </a:rPr>
              <a:t>INFORMAL DISPOSAL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8FAFC"/>
                </a:solidFill>
                <a:latin typeface="Verdana"/>
              </a:rPr>
              <a:t>Informal sorting, unsafe open-burning, and dumping.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32520" y="4434840"/>
            <a:ext cx="365760" cy="4114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9400" y="4846320"/>
            <a:ext cx="4572000" cy="86868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2C55E"/>
                </a:solidFill>
                <a:latin typeface="Verdana"/>
              </a:rPr>
              <a:t>SEVERE VALUE LOSS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8FAFC"/>
                </a:solidFill>
                <a:latin typeface="Verdana"/>
              </a:rPr>
              <a:t>Toxic pollution, groundwater damage, and wasted minerals.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8FAFC"/>
                </a:solidFill>
                <a:latin typeface="Georgia"/>
              </a:rPr>
              <a:t>AI Platform Achieves 96% Sorting Accuracy for Safe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200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06B6D4"/>
                </a:solidFill>
                <a:latin typeface="Verdana"/>
              </a:rPr>
              <a:t>A computer-vision-driven circular platform providing automated, convenient, and safe material recovery.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31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303520" cy="457200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C55E"/>
                </a:solidFill>
                <a:latin typeface="Georgia"/>
              </a:rPr>
              <a:t>PLATFORM CORE CAPABILITIES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6B6D4"/>
                </a:solidFill>
                <a:latin typeface="Verdana"/>
              </a:rPr>
              <a:t>• Computer Vision Scanning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Our CNN model identifies electronic devices with 96% accuracy, instantly analyzing device details and quoting recycling value.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6B6D4"/>
                </a:solidFill>
                <a:latin typeface="Verdana"/>
              </a:rPr>
              <a:t>• Doorstep Pickup Network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Facilitated by localized logistics partners, users schedule quick e-waste pick-ups directly from households and offices.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6B6D4"/>
                </a:solidFill>
                <a:latin typeface="Verdana"/>
              </a:rPr>
              <a:t>• High-Efficiency Sorting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AI automatically segments items into three streams: Refurbishment (high margin resale), Reuse (component harvesting), or Recycling.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6B6D4"/>
                </a:solidFill>
                <a:latin typeface="Verdana"/>
              </a:rPr>
              <a:t>• Certified Compliance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Corporations receive digital recycling certificates and ESG carbon offset tracking to guarantee compliance with EPR laws.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C55E"/>
                </a:solidFill>
                <a:latin typeface="Georgia"/>
              </a:rPr>
              <a:t>Our Smart Circular Journey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219456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32B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121408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6B6D4"/>
                </a:solidFill>
                <a:latin typeface="Verdana"/>
              </a:rPr>
              <a:t>1. USER SCAN — </a:t>
            </a:r>
            <a:r>
              <a:rPr sz="1000" b="0" i="0">
                <a:solidFill>
                  <a:srgbClr val="F8FAFC"/>
                </a:solidFill>
                <a:latin typeface="Verdana"/>
              </a:rPr>
              <a:t>Uses smartphone app to scan device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2834639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32B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761487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6B6D4"/>
                </a:solidFill>
                <a:latin typeface="Verdana"/>
              </a:rPr>
              <a:t>2. AI IDENTIFY — </a:t>
            </a:r>
            <a:r>
              <a:rPr sz="1000" b="0" i="0">
                <a:solidFill>
                  <a:srgbClr val="F8FAFC"/>
                </a:solidFill>
                <a:latin typeface="Verdana"/>
              </a:rPr>
              <a:t>CNN estimates value &amp; sorting route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347472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32B"/>
                </a:solidFill>
                <a:latin typeface="Verdan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401568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6B6D4"/>
                </a:solidFill>
                <a:latin typeface="Verdana"/>
              </a:rPr>
              <a:t>3. LOGISTICS PICKUP — </a:t>
            </a:r>
            <a:r>
              <a:rPr sz="1000" b="0" i="0">
                <a:solidFill>
                  <a:srgbClr val="F8FAFC"/>
                </a:solidFill>
                <a:latin typeface="Verdana"/>
              </a:rPr>
              <a:t>Authorized doorstep pickup scheduled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411480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32B"/>
                </a:solidFill>
                <a:latin typeface="Verdan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41648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6B6D4"/>
                </a:solidFill>
                <a:latin typeface="Verdana"/>
              </a:rPr>
              <a:t>4. BULK SORTING — </a:t>
            </a:r>
            <a:r>
              <a:rPr sz="1000" b="0" i="0">
                <a:solidFill>
                  <a:srgbClr val="F8FAFC"/>
                </a:solidFill>
                <a:latin typeface="Verdana"/>
              </a:rPr>
              <a:t>AI routes to Reuse vs. Mineral Recycler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4754879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32B"/>
                </a:solidFill>
                <a:latin typeface="Verdan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681727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6B6D4"/>
                </a:solidFill>
                <a:latin typeface="Verdana"/>
              </a:rPr>
              <a:t>5. REPAIR &amp; RECYCLE — </a:t>
            </a:r>
            <a:r>
              <a:rPr sz="1000" b="0" i="0">
                <a:solidFill>
                  <a:srgbClr val="F8FAFC"/>
                </a:solidFill>
                <a:latin typeface="Verdana"/>
              </a:rPr>
              <a:t>Eco-friendly processing &amp; recovery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539496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32B"/>
                </a:solidFill>
                <a:latin typeface="Verdan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321808"/>
            <a:ext cx="4114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6B6D4"/>
                </a:solidFill>
                <a:latin typeface="Verdana"/>
              </a:rPr>
              <a:t>6. VALUE RECOVERY — </a:t>
            </a:r>
            <a:r>
              <a:rPr sz="1000" b="0" i="0">
                <a:solidFill>
                  <a:srgbClr val="F8FAFC"/>
                </a:solidFill>
                <a:latin typeface="Verdana"/>
              </a:rPr>
              <a:t>Gold/silver extracted; ESG certs issued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8FAFC"/>
                </a:solidFill>
                <a:latin typeface="Georgia"/>
              </a:rPr>
              <a:t>Six Market Segments Align to Fuel Our Circular Value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200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06B6D4"/>
                </a:solidFill>
                <a:latin typeface="Verdana"/>
              </a:rPr>
              <a:t>Aligning municipal and corporate ESG demands with consumer convenience to capture maximum supply.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31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83280" cy="201168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C55E"/>
                </a:solidFill>
                <a:latin typeface="Georgia"/>
              </a:rPr>
              <a:t>HOUSEHOLDS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70% of e-waste generators. Demands extreme pickup convenience, transparent item valuation, and eco-rewards.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201168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C55E"/>
                </a:solidFill>
                <a:latin typeface="Georgia"/>
              </a:rPr>
              <a:t>SCHOOLS &amp; COLLEGES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Generate massive volumes of bulk upgrades. Needs eco-education workshops and organized bulk disposal routes.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645920"/>
            <a:ext cx="3383280" cy="201168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83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C55E"/>
                </a:solidFill>
                <a:latin typeface="Georgia"/>
              </a:rPr>
              <a:t>OFFICES &amp; CORPORATIONS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Highly regulated generators. Seek data-security compliance (secure wiping), ESG reports, and EPR certificates.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31920"/>
            <a:ext cx="3383280" cy="201168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C55E"/>
                </a:solidFill>
                <a:latin typeface="Georgia"/>
              </a:rPr>
              <a:t>ELECTRONIC RETAILERS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Must support trade-in models. Need integration partners to offer trade-in discounts and offload return inventory.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31920"/>
            <a:ext cx="3383280" cy="201168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69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C55E"/>
                </a:solidFill>
                <a:latin typeface="Georgia"/>
              </a:rPr>
              <a:t>AUTHORIZED RECYCLERS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Face chronic feedstock shortages. Demand large, pre-segregated bulk material feeds to run at capacity.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931920"/>
            <a:ext cx="3383280" cy="201168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69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C55E"/>
                </a:solidFill>
                <a:latin typeface="Georgia"/>
              </a:rPr>
              <a:t>GOVERNMENT &amp; MUNICIPAL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Seek smart-city waste solutions. Need technology-driven collection networks to clear hazardous regional landfills.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8FAFC"/>
                </a:solidFill>
                <a:latin typeface="Georgia"/>
              </a:rPr>
              <a:t>Six Revenue Streams Target ₹6.5L to ₹16.5L in Monthly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200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06B6D4"/>
                </a:solidFill>
                <a:latin typeface="Verdana"/>
              </a:rPr>
              <a:t>Diverse, robust income channels targeting a total expected revenue of ₹6.5 Lakh to ₹16.5 Lakh per month.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31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303520" cy="448056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C55E"/>
                </a:solidFill>
                <a:latin typeface="Georgia"/>
              </a:rPr>
              <a:t>CORE REVENUE CHANNELS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6B6D4"/>
                </a:solidFill>
                <a:latin typeface="Verdana"/>
              </a:rPr>
              <a:t>• Recycling Commission   </a:t>
            </a:r>
            <a:r>
              <a:rPr b="1">
                <a:solidFill>
                  <a:srgbClr val="22C55E"/>
                </a:solidFill>
              </a:rPr>
              <a:t>₹1.0 – ₹3.0 Lakh / Month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8FAFC"/>
                </a:solidFill>
                <a:latin typeface="Verdana"/>
              </a:rPr>
              <a:t>Cut on metal extraction commissions from authorized recyclers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6B6D4"/>
                </a:solidFill>
                <a:latin typeface="Verdana"/>
              </a:rPr>
              <a:t>• Doorstep Pickup Fee   </a:t>
            </a:r>
            <a:r>
              <a:rPr b="1">
                <a:solidFill>
                  <a:srgbClr val="22C55E"/>
                </a:solidFill>
              </a:rPr>
              <a:t>₹0.5 – ₹1.0 Lakh / Month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8FAFC"/>
                </a:solidFill>
                <a:latin typeface="Verdana"/>
              </a:rPr>
              <a:t>Logistics convenience fee from households and schools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6B6D4"/>
                </a:solidFill>
                <a:latin typeface="Verdana"/>
              </a:rPr>
              <a:t>• Refurbished Device Sales   </a:t>
            </a:r>
            <a:r>
              <a:rPr b="1">
                <a:solidFill>
                  <a:srgbClr val="22C55E"/>
                </a:solidFill>
              </a:rPr>
              <a:t>₹2.0 – ₹4.0 Lakh / Month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8FAFC"/>
                </a:solidFill>
                <a:latin typeface="Verdana"/>
              </a:rPr>
              <a:t>Direct sales of certified, repaired electronics via web-store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6B6D4"/>
                </a:solidFill>
                <a:latin typeface="Verdana"/>
              </a:rPr>
              <a:t>• Corporate ESG Contracts   </a:t>
            </a:r>
            <a:r>
              <a:rPr b="1">
                <a:solidFill>
                  <a:srgbClr val="22C55E"/>
                </a:solidFill>
              </a:rPr>
              <a:t>₹2.0 – ₹5.0 Lakh / Month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8FAFC"/>
                </a:solidFill>
                <a:latin typeface="Verdana"/>
              </a:rPr>
              <a:t>B2B contracts for structured disposal &amp; EPR cert compliance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6B6D4"/>
                </a:solidFill>
                <a:latin typeface="Verdana"/>
              </a:rPr>
              <a:t>• Recycler SaaS Platform   </a:t>
            </a:r>
            <a:r>
              <a:rPr b="1">
                <a:solidFill>
                  <a:srgbClr val="22C55E"/>
                </a:solidFill>
              </a:rPr>
              <a:t>₹0.5 – ₹1.5 Lakh / Month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8FAFC"/>
                </a:solidFill>
                <a:latin typeface="Verdana"/>
              </a:rPr>
              <a:t>Subscriptions for our logistics routing &amp; inventory CRM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6B6D4"/>
                </a:solidFill>
                <a:latin typeface="Verdana"/>
              </a:rPr>
              <a:t>• Eco-Partnerships   </a:t>
            </a:r>
            <a:r>
              <a:rPr b="1">
                <a:solidFill>
                  <a:srgbClr val="22C55E"/>
                </a:solidFill>
              </a:rPr>
              <a:t>₹0.5 – ₹2.0 Lakh / Month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8FAFC"/>
                </a:solidFill>
                <a:latin typeface="Verdana"/>
              </a:rPr>
              <a:t>Sponsorships and brand placements for green awareness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440680"/>
            <a:ext cx="5120640" cy="548640"/>
          </a:xfrm>
          <a:prstGeom prst="rect">
            <a:avLst/>
          </a:prstGeom>
          <a:solidFill>
            <a:srgbClr val="0B13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8FAFC"/>
                </a:solidFill>
                <a:latin typeface="Georgia"/>
              </a:rPr>
              <a:t>TOTAL EXPECTED REVENUE: ₹6.5 – ₹16.5 LAKH / MONTH</a:t>
            </a:r>
          </a:p>
        </p:txBody>
      </p:sp>
      <p:pic>
        <p:nvPicPr>
          <p:cNvPr id="8" name="Picture 7" descr="revenu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8FAFC"/>
                </a:solidFill>
                <a:latin typeface="Georgia"/>
              </a:rPr>
              <a:t>Lean Capital of ₹15L–27L Projects Rapid 4–6 Month Payback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200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06B6D4"/>
                </a:solidFill>
                <a:latin typeface="Verdana"/>
              </a:rPr>
              <a:t>Strategic capital allocation of ₹15 Lakh to ₹27 Lakh for startup setup and rapid market penetration.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31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303520" cy="448056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C55E"/>
                </a:solidFill>
                <a:latin typeface="Georgia"/>
              </a:rPr>
              <a:t>STRATEGIC SEED CAPITAL ALLOCATION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Verdana"/>
              </a:rPr>
              <a:t>• Platform Development (Web/App)        </a:t>
            </a:r>
            <a:r>
              <a:rPr b="1">
                <a:solidFill>
                  <a:srgbClr val="06B6D4"/>
                </a:solidFill>
              </a:rPr>
              <a:t>₹2.0 – ₹4.0 Lakh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Verdana"/>
              </a:rPr>
              <a:t>• AI Scanner &amp; ML Model Training        </a:t>
            </a:r>
            <a:r>
              <a:rPr b="1">
                <a:solidFill>
                  <a:srgbClr val="06B6D4"/>
                </a:solidFill>
              </a:rPr>
              <a:t>₹1.0 – ₹2.0 Lakh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Verdana"/>
              </a:rPr>
              <a:t>• Logistics &amp; Collection Vehicles       </a:t>
            </a:r>
            <a:r>
              <a:rPr b="1">
                <a:solidFill>
                  <a:srgbClr val="06B6D4"/>
                </a:solidFill>
              </a:rPr>
              <a:t>₹2.0 – ₹4.0 Lakh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Verdana"/>
              </a:rPr>
              <a:t>• Regional Collection Hub Lease         </a:t>
            </a:r>
            <a:r>
              <a:rPr b="1">
                <a:solidFill>
                  <a:srgbClr val="06B6D4"/>
                </a:solidFill>
              </a:rPr>
              <a:t>₹3.0 – ₹5.0 Lakh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Verdana"/>
              </a:rPr>
              <a:t>• Specialized Sorting Equipment         </a:t>
            </a:r>
            <a:r>
              <a:rPr b="1">
                <a:solidFill>
                  <a:srgbClr val="06B6D4"/>
                </a:solidFill>
              </a:rPr>
              <a:t>₹1.0 – ₹2.0 Lakh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Verdana"/>
              </a:rPr>
              <a:t>• Human Capital &amp; Employee Salaries     </a:t>
            </a:r>
            <a:r>
              <a:rPr b="1">
                <a:solidFill>
                  <a:srgbClr val="06B6D4"/>
                </a:solidFill>
              </a:rPr>
              <a:t>₹4.0 – ₹6.0 Lakh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Verdana"/>
              </a:rPr>
              <a:t>• Target Customer Acquisition Marketing </a:t>
            </a:r>
            <a:r>
              <a:rPr b="1">
                <a:solidFill>
                  <a:srgbClr val="06B6D4"/>
                </a:solidFill>
              </a:rPr>
              <a:t>₹1.0 – ₹2.0 Lakh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Verdana"/>
              </a:rPr>
              <a:t>• Environmental Licenses &amp; Misc.        </a:t>
            </a:r>
            <a:r>
              <a:rPr b="1">
                <a:solidFill>
                  <a:srgbClr val="06B6D4"/>
                </a:solidFill>
              </a:rPr>
              <a:t>₹1.0 – ₹2.0 Lakh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4A3B8"/>
                </a:solidFill>
                <a:latin typeface="Verdana"/>
              </a:rPr>
              <a:t>TOTAL INITIAL SEED CAPITAL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2C55E"/>
                </a:solidFill>
                <a:latin typeface="Georgia"/>
              </a:rPr>
              <a:t>₹15.0 – ₹27.0 LAKH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8FAFC"/>
                </a:solidFill>
                <a:latin typeface="Verdana"/>
              </a:rPr>
              <a:t>Covers custom computer vision app, logistics fleet leasing, collection storage setup, and 12-month staff runway.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4A3B8"/>
                </a:solidFill>
                <a:latin typeface="Verdana"/>
              </a:rPr>
              <a:t>STEADY-STATE MONTHLY INCOME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6B6D4"/>
                </a:solidFill>
                <a:latin typeface="Georgia"/>
              </a:rPr>
              <a:t>₹6.5 – ₹16.5 LAKH / MO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8FAFC"/>
                </a:solidFill>
                <a:latin typeface="Verdana"/>
              </a:rPr>
              <a:t>Expected payback period is 4–6 months after pilot hub launch. Highly scalable, tech-heavy asset-light platform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8FAFC"/>
                </a:solidFill>
                <a:latin typeface="Georgia"/>
              </a:rPr>
              <a:t>Our Circular Model Diverts Toxic Waste While Scaling Profits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200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06B6D4"/>
                </a:solidFill>
                <a:latin typeface="Verdana"/>
              </a:rPr>
              <a:t>Delivering double-bottom-line results: measurable ecological preservation and robust commercial success.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31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303520" cy="274320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C55E"/>
                </a:solidFill>
                <a:latin typeface="Georgia"/>
              </a:rPr>
              <a:t>ECOLOGICAL &amp; ENVIRONMENTAL IMPACT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• Diverts Toxic Pollution: Prevents lead, mercury, and flame-retardant leaks from entering soil.
• Promotes Tech Refurbishment: Extends the useful lifespan of functional gadgets by 2–3 years.
• Supports Sustainable Recyclers: Standardizes certified feedstocks for authorized refineries.
• Critical Metal Extraction: Recover scarce heavy minerals (gold, copper, lithium) from waste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743200"/>
          </a:xfrm>
          <a:prstGeom prst="roundRect">
            <a:avLst/>
          </a:prstGeom>
          <a:solidFill>
            <a:srgbClr val="1C2541"/>
          </a:solidFill>
          <a:ln>
            <a:noFill/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6B6D4"/>
                </a:solidFill>
                <a:latin typeface="Georgia"/>
              </a:rPr>
              <a:t>BUSINESS &amp; VENTURE IMPACT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8FAFC"/>
                </a:solidFill>
                <a:latin typeface="Verdana"/>
              </a:rPr>
              <a:t>• Recurring Corporate Revenue: Steady cash flow from corporate ESG contracts and EPR compliance.
• High-Margin Product Sales: Verified margins from directly selling refurbished devices online.
• Strong Volume Commissions: High-margin scrap material commissions from authorized recyclers.
• Scaleable Partner SaaS: Recurring monthly SaaS subscription fees from third-party waste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572000"/>
            <a:ext cx="10820095" cy="685800"/>
          </a:xfrm>
          <a:prstGeom prst="rect">
            <a:avLst/>
          </a:prstGeom>
          <a:solidFill>
            <a:srgbClr val="1C2541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90288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1">
                <a:solidFill>
                  <a:srgbClr val="22C55E"/>
                </a:solidFill>
                <a:latin typeface="Georgia"/>
              </a:rPr>
              <a:t>“Turning Electronic Waste into Sustainable Value: From Discard to Economic Growth”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486400"/>
            <a:ext cx="1554480" cy="68580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Verdana"/>
              </a:rPr>
              <a:t>Collect</a:t>
            </a:r>
          </a:p>
        </p:txBody>
      </p:sp>
      <p:sp>
        <p:nvSpPr>
          <p:cNvPr id="12" name="Chevron 11"/>
          <p:cNvSpPr/>
          <p:nvPr/>
        </p:nvSpPr>
        <p:spPr>
          <a:xfrm>
            <a:off x="2240280" y="5650992"/>
            <a:ext cx="182880" cy="365760"/>
          </a:xfrm>
          <a:prstGeom prst="chevr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3160" y="5486400"/>
            <a:ext cx="1554480" cy="68580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Verdana"/>
              </a:rPr>
              <a:t>Classify</a:t>
            </a:r>
          </a:p>
        </p:txBody>
      </p:sp>
      <p:sp>
        <p:nvSpPr>
          <p:cNvPr id="14" name="Chevron 13"/>
          <p:cNvSpPr/>
          <p:nvPr/>
        </p:nvSpPr>
        <p:spPr>
          <a:xfrm>
            <a:off x="3977640" y="5650992"/>
            <a:ext cx="182880" cy="365760"/>
          </a:xfrm>
          <a:prstGeom prst="chevr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5486400"/>
            <a:ext cx="1554480" cy="68580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Verdana"/>
              </a:rPr>
              <a:t>Reuse</a:t>
            </a:r>
          </a:p>
        </p:txBody>
      </p:sp>
      <p:sp>
        <p:nvSpPr>
          <p:cNvPr id="16" name="Chevron 15"/>
          <p:cNvSpPr/>
          <p:nvPr/>
        </p:nvSpPr>
        <p:spPr>
          <a:xfrm>
            <a:off x="5715000" y="5650992"/>
            <a:ext cx="182880" cy="365760"/>
          </a:xfrm>
          <a:prstGeom prst="chevr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97880" y="5486400"/>
            <a:ext cx="1554480" cy="68580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Verdana"/>
              </a:rPr>
              <a:t>Recycle</a:t>
            </a:r>
          </a:p>
        </p:txBody>
      </p:sp>
      <p:sp>
        <p:nvSpPr>
          <p:cNvPr id="18" name="Chevron 17"/>
          <p:cNvSpPr/>
          <p:nvPr/>
        </p:nvSpPr>
        <p:spPr>
          <a:xfrm>
            <a:off x="7452360" y="5650992"/>
            <a:ext cx="182880" cy="365760"/>
          </a:xfrm>
          <a:prstGeom prst="chevr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35240" y="5486400"/>
            <a:ext cx="1554480" cy="685800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Verdana"/>
              </a:rPr>
              <a:t>Recover</a:t>
            </a:r>
          </a:p>
        </p:txBody>
      </p:sp>
      <p:sp>
        <p:nvSpPr>
          <p:cNvPr id="20" name="Chevron 19"/>
          <p:cNvSpPr/>
          <p:nvPr/>
        </p:nvSpPr>
        <p:spPr>
          <a:xfrm>
            <a:off x="9189720" y="5650992"/>
            <a:ext cx="182880" cy="365760"/>
          </a:xfrm>
          <a:prstGeom prst="chevr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5486400"/>
            <a:ext cx="1554480" cy="6858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32B"/>
                </a:solidFill>
                <a:latin typeface="Verdana"/>
              </a:rPr>
              <a:t>Create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9FF2B050-748B-482C-89EE-7A03EA7E4D32}"/>
</file>

<file path=customXml/itemProps2.xml><?xml version="1.0" encoding="utf-8"?>
<ds:datastoreItem xmlns:ds="http://schemas.openxmlformats.org/officeDocument/2006/customXml" ds:itemID="{04DA0DE9-318F-4D38-8BFF-7E368589A8BE}"/>
</file>

<file path=customXml/itemProps3.xml><?xml version="1.0" encoding="utf-8"?>
<ds:datastoreItem xmlns:ds="http://schemas.openxmlformats.org/officeDocument/2006/customXml" ds:itemID="{0C075005-4853-463A-B081-052399D10916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